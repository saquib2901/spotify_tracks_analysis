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45"/>
  </p:notesMasterIdLst>
  <p:handoutMasterIdLst>
    <p:handoutMasterId r:id="rId46"/>
  </p:handoutMasterIdLst>
  <p:sldIdLst>
    <p:sldId id="314" r:id="rId5"/>
    <p:sldId id="315" r:id="rId6"/>
    <p:sldId id="316" r:id="rId7"/>
    <p:sldId id="340" r:id="rId8"/>
    <p:sldId id="317" r:id="rId9"/>
    <p:sldId id="320" r:id="rId10"/>
    <p:sldId id="333" r:id="rId11"/>
    <p:sldId id="318" r:id="rId12"/>
    <p:sldId id="326" r:id="rId13"/>
    <p:sldId id="343" r:id="rId14"/>
    <p:sldId id="342" r:id="rId15"/>
    <p:sldId id="344" r:id="rId16"/>
    <p:sldId id="341" r:id="rId17"/>
    <p:sldId id="327" r:id="rId18"/>
    <p:sldId id="334" r:id="rId19"/>
    <p:sldId id="321" r:id="rId20"/>
    <p:sldId id="347" r:id="rId21"/>
    <p:sldId id="335" r:id="rId22"/>
    <p:sldId id="349" r:id="rId23"/>
    <p:sldId id="346" r:id="rId24"/>
    <p:sldId id="348" r:id="rId25"/>
    <p:sldId id="336" r:id="rId26"/>
    <p:sldId id="345" r:id="rId27"/>
    <p:sldId id="350" r:id="rId28"/>
    <p:sldId id="328" r:id="rId29"/>
    <p:sldId id="351" r:id="rId30"/>
    <p:sldId id="353" r:id="rId31"/>
    <p:sldId id="352" r:id="rId32"/>
    <p:sldId id="337" r:id="rId33"/>
    <p:sldId id="338" r:id="rId34"/>
    <p:sldId id="354" r:id="rId35"/>
    <p:sldId id="331" r:id="rId36"/>
    <p:sldId id="339" r:id="rId37"/>
    <p:sldId id="355" r:id="rId38"/>
    <p:sldId id="357" r:id="rId39"/>
    <p:sldId id="356" r:id="rId40"/>
    <p:sldId id="359" r:id="rId41"/>
    <p:sldId id="358" r:id="rId42"/>
    <p:sldId id="360" r:id="rId43"/>
    <p:sldId id="33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B1F56-6D12-48C7-9FEE-A870D567D871}" v="312" dt="2025-12-02T20:34:27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2E8D-AFA2-F8E6-1B41-2BC712FF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DC974-0E6D-C1E5-AF0B-74B39E79F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31021-732C-4409-1ADA-EFCE5A205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ABCE5-B037-1713-DE58-A45699967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4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03CBD-3AD9-E5F4-1B4F-1BA64753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6120-883E-F6E4-1577-EEB31EB4D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1B1E6-2219-32F9-6EF8-069F8A46F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6FAFF-2582-96D8-67EA-90AD3A318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08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894D-E049-A8B7-D6B7-9CCF484A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D3737-326B-F495-3DF4-F72A05320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DF18D-7859-5144-E472-0461665AC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256A2-15B6-5CF2-195B-CD22DF3B6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62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2D30-379C-8283-F0C7-E1291061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FDE0B-046F-2E4A-DCDB-EB1BC0DD4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3054C-B8A9-DA4F-E1AF-AB6FB7637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AB0F8-901D-D371-3B55-2323A0720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239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5D42-3F5E-85D6-84FB-22BBDFD4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9A83B-7DFE-90EF-7B1B-5C86229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95B22-ACC3-4658-CFFC-2F04BF69C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33CD1-80BE-CB4D-4F7F-C5FE4E010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21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0AAC-4E11-4A52-6F6F-B2C3F8DF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66426-F0BA-2574-49AD-71FA0E47B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DB2F5-8102-D9BB-AA19-C29F12744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54E51-DDC7-F406-71AD-C4CA60F71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881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1868-2A95-BC2A-3F90-513B01A7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76231-A8D8-D306-943D-440DE2B27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8CF6E-917D-A662-E046-315A52029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FFD2-7D1B-4A5E-C4A5-31355D9E8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94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7C5C-C57E-52CA-B4D7-AA8C886D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A66E9-FD8F-877D-266F-CEB124C63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D9466-5225-0275-B89F-9A0C06CCF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4446A-B0F0-DDD7-DD69-3434D9B02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44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D72F-C521-B5B0-FCE0-14AF3CA8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CE607-6557-9948-E9F8-6C928B13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F0946-F975-DBB9-4323-385FD7E25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EA09-65D0-E350-FEA3-4FAC6AB7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566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A37D-8E76-71F7-5C25-2E02CC30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A77EA-D946-79BF-6A23-7B497CA60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EF755-9A35-956C-AA56-5E4E848E9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A1AD8-443C-5627-8F1B-0DEAF74F4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272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EEC7-D2B6-F291-0428-93C709BD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31089-3484-E8EC-A651-22F7C79A8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91EC8-EC7E-E6EE-6A5A-E7F95E48F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6E006-5E9B-7B24-2B63-7CB567052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2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2C7D-4B09-142B-8519-6E9A78859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FA4D2-91E2-FFB0-1ECD-435DE25DB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330AC-BFCE-03BD-E856-D0466C8A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6532-0352-60BE-4333-653230541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896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91A4-DF20-670B-7FA8-CE49B2850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E8E39-241A-EDAC-5F2D-A42263FB7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A77-3C71-2CE4-DE4A-A808147FE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C1BC-1ECF-AFF3-DD0A-687187F93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750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8020-A288-7337-7F91-246FE47A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AE824-7C83-60D9-799A-A6A1C09DD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15935-1815-095A-6F2D-EC34F9587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505C3-2A3C-B529-F976-93DDCE901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99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7D19-2221-FD09-E407-F929FA73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CB6CB-37F0-E83C-028A-D99150CB4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A43D6-0E2D-51DC-425D-4A0C44184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D36F-6F27-4341-28F8-B832340C8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600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AC49-E667-E262-80F6-2505F732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921CE-8F5A-2AC4-51C4-3D7125EB8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98928-0B8A-15A5-BF25-15FA5683F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B7428-D850-A348-884E-E85632784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88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ACA5-8BE6-ADB7-ED58-A1D0710B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30413-41A5-81EA-2B1D-6672107A2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C1F46-A05D-B57D-99F9-5AE226CEA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0CF1D-BA69-6313-66A8-F76C4457E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069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F92A-3556-EAC9-7465-339C6561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F66B8-C830-55FB-3336-D4F456B34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331B6-B160-0D86-43F9-559E755FD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3B7F6-B1FB-6BF7-EDAE-BADC6A3E5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2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C52A-9797-E8C9-BEE4-9EACA566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833EA-5FAB-3156-E442-E4D57A285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96A66-166A-3F68-F707-661885819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D13A0-13E6-65F3-B10C-EC25B6567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23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9DC5-EB1E-999A-6425-D0D37F8C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7BA26-F8A4-7B48-4507-E6B484828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6F8A8-62F3-3EC7-8ED9-4A2838F7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AD699-DBFB-E2CE-D5C1-C7E7C8136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995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65A7-A6B4-9201-949E-BE190B88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02FDA-314C-516D-D6C4-71B9A715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4E729-CF4D-85C2-F078-E4B573B4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2704C-F949-B423-0A2D-F8AE11EB7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76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9DC98-8668-3F17-41BD-28ADEA6A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FA818-2344-CCA8-54BF-4A7CA5063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933BD-0122-C415-6600-2D0B5927B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974FC-E873-E4D2-84B3-EF84451AC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4371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55D9-14D1-273B-3534-DC7AC847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377E0-DEA3-1E6C-CA31-BCF4804DD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5AA0C-6610-4A77-924D-0277C274E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E137F-D85B-AB3C-88F8-D003256CA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08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8A3C-4D8E-ED9E-D2D8-A4F1EAB0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647CB-BFFF-4B43-A7C1-5C7EB9867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348FF-0FD1-7A7F-973C-E34BB50EE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D872F-A279-0B91-DE69-E7C4D1D28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3980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ED-D563-638B-E670-9D2B92CD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22A88-DD9F-BED4-8ACD-FB9D3F354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4DB16-628A-87BE-C546-46DD0F5A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16AB8-0EB7-0281-E589-2B5EB4642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461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D5E2-8680-005F-1DDC-B04CB80A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72850-1086-2F10-35FD-743C7E665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C73D2-75E8-C233-27C9-26134505D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9E49-0AB6-83C0-787B-88B6E3009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130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D57AD-0726-77E5-6AD1-A17AA60A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C3E04-D254-3FA8-2CA4-DC7CA5F8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8CCDA-D9A8-0C25-6C32-9E869DD48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B4416-018C-5351-51DF-966A70D10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15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786B0-95C6-0B49-DC79-E1D18CF3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50F9-3D46-3D2E-4A76-57E960DF0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88486-0CD1-284B-BB68-C70D3A01E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171B-4025-9842-7C68-744B0A8C2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48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0E01-9EAC-8388-6494-6C5A15913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B86FF-7D79-5313-59E7-033769DC1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4E4DA-F0D2-EB0E-0938-9F398B6F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EE616-769A-404A-9599-A9DD553F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DBFF-FF01-9513-DAF3-117540AF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7D30-5BB5-3B58-D8FD-16C3C0C2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DF0B4-7E17-D856-BED9-45FB6869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E547-EBD9-1AF7-F856-D49E00D9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2873C-7613-1182-ACEF-C4FCAB5A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F9C69-F551-16AE-884F-A6A52EA0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2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  <p:sldLayoutId id="2147483719" r:id="rId14"/>
    <p:sldLayoutId id="214748372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569" y="2546554"/>
            <a:ext cx="6549431" cy="684327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Arial Black" panose="020B0A04020102020204" pitchFamily="34" charset="0"/>
              </a:rPr>
              <a:t>spotify</a:t>
            </a:r>
            <a:r>
              <a:rPr lang="en-US" sz="3600" dirty="0">
                <a:latin typeface="Arial Black" panose="020B0A04020102020204" pitchFamily="34" charset="0"/>
              </a:rPr>
              <a:t> Data Analysis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B7BEE7C-9737-7492-45DB-11860E8FA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188" y="78658"/>
            <a:ext cx="4936972" cy="2231923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64088-CFBD-DE30-A286-93D0EACD849C}"/>
              </a:ext>
            </a:extLst>
          </p:cNvPr>
          <p:cNvSpPr txBox="1"/>
          <p:nvPr/>
        </p:nvSpPr>
        <p:spPr>
          <a:xfrm>
            <a:off x="5539903" y="3230881"/>
            <a:ext cx="67547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An Exploratory Data Analysis (EDA) Story to Uncover Reliable Insights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65CC3-1F51-A737-111E-39815F588228}"/>
              </a:ext>
            </a:extLst>
          </p:cNvPr>
          <p:cNvSpPr txBox="1"/>
          <p:nvPr/>
        </p:nvSpPr>
        <p:spPr>
          <a:xfrm>
            <a:off x="6853658" y="5207276"/>
            <a:ext cx="4876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Presented by: Md Saquib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3639"/>
            <a:ext cx="5181600" cy="90911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3142" y="1971812"/>
            <a:ext cx="6711044" cy="4422549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3000" dirty="0"/>
              <a:t>Project Overview</a:t>
            </a:r>
          </a:p>
          <a:p>
            <a:pPr marL="457200" indent="-457200">
              <a:buAutoNum type="arabicPeriod"/>
            </a:pPr>
            <a:r>
              <a:rPr lang="en-US" sz="3000" dirty="0"/>
              <a:t>Dataset Analysis </a:t>
            </a:r>
          </a:p>
          <a:p>
            <a:pPr marL="457200" indent="-457200">
              <a:buAutoNum type="arabicPeriod"/>
            </a:pPr>
            <a:r>
              <a:rPr lang="en-US" sz="3000" dirty="0"/>
              <a:t>Insights and Observations</a:t>
            </a:r>
          </a:p>
          <a:p>
            <a:pPr marL="457200" indent="-457200">
              <a:buAutoNum type="arabicPeriod"/>
            </a:pPr>
            <a:r>
              <a:rPr lang="en-US" sz="3000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458" y="-277587"/>
            <a:ext cx="5181600" cy="111620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6" name="Picture Placeholder 5" descr="Magnifying glass showing decling performance">
            <a:extLst>
              <a:ext uri="{FF2B5EF4-FFF2-40B4-BE49-F238E27FC236}">
                <a16:creationId xmlns:a16="http://schemas.microsoft.com/office/drawing/2014/main" id="{DCB61098-2FA2-6C90-5BDA-AF29F8365A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326" r="20326"/>
          <a:stretch>
            <a:fillRect/>
          </a:stretch>
        </p:blipFill>
        <p:spPr>
          <a:xfrm>
            <a:off x="6096000" y="-10160"/>
            <a:ext cx="6116320" cy="686816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2C515-CC8C-A154-A483-B99F2A1C3D14}"/>
              </a:ext>
            </a:extLst>
          </p:cNvPr>
          <p:cNvSpPr txBox="1"/>
          <p:nvPr/>
        </p:nvSpPr>
        <p:spPr>
          <a:xfrm>
            <a:off x="261257" y="1665512"/>
            <a:ext cx="69396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Objective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The objective of this analysis is to explore the Spotify Tracks dataset to uncover meaningful patterns and insights related to song characteristics, popularity trends, and artist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2DB2-EAB3-4879-1707-B498A2D8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77D3D-DBC2-D6DB-27BC-701EE02FF9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3142" y="1946788"/>
            <a:ext cx="6662058" cy="4447574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+mj-lt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Danceability</a:t>
            </a:r>
            <a:r>
              <a:rPr lang="en-US" altLang="en-US" dirty="0"/>
              <a:t> – Measures how suitable a track is for dancing, considering rhythm stability, beat strength, and tempo.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Energy</a:t>
            </a:r>
            <a:r>
              <a:rPr lang="en-US" altLang="en-US" dirty="0"/>
              <a:t> – Reflects the intensity and activity level of a song, capturing how dynamic or lively it feels.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Valence</a:t>
            </a:r>
            <a:r>
              <a:rPr lang="en-US" altLang="en-US" dirty="0"/>
              <a:t> – Represents the musical positivity of a track; high valence sounds        happy or cheerful, while low valence feels sad or moody.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/>
              <a:t>Acousticness</a:t>
            </a:r>
            <a:r>
              <a:rPr lang="en-US" altLang="en-US" dirty="0"/>
              <a:t> – Estimates how acoustic or non-electronic a track is; higher values indicate fewer synthesized or electronic sounds.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  </a:t>
            </a:r>
            <a:r>
              <a:rPr lang="en-US" altLang="en-US" b="1" dirty="0"/>
              <a:t>…….etc. </a:t>
            </a:r>
            <a:r>
              <a:rPr lang="en-US" dirty="0"/>
              <a:t>(more audio features such as tempo and </a:t>
            </a:r>
            <a:r>
              <a:rPr lang="en-US" dirty="0" err="1"/>
              <a:t>instrumentalness</a:t>
            </a:r>
            <a:r>
              <a:rPr lang="en-US" dirty="0"/>
              <a:t>).</a:t>
            </a:r>
            <a:endParaRPr lang="en-US" altLang="en-US" b="1" dirty="0"/>
          </a:p>
          <a:p>
            <a:endParaRPr lang="en-US" dirty="0">
              <a:latin typeface="Bell MT" panose="02020503060305020303" pitchFamily="18" charset="0"/>
            </a:endParaRPr>
          </a:p>
          <a:p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8B44FB-617B-03F4-EF06-69B72BE63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3B948-E474-2C3E-249D-94C28894659D}"/>
              </a:ext>
            </a:extLst>
          </p:cNvPr>
          <p:cNvSpPr txBox="1"/>
          <p:nvPr/>
        </p:nvSpPr>
        <p:spPr>
          <a:xfrm>
            <a:off x="407335" y="757317"/>
            <a:ext cx="747848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Since the objective is to understand the factors that contribute to a track's popularity and to examine how these features vary across languages, genres, and time periods.</a:t>
            </a:r>
          </a:p>
          <a:p>
            <a:r>
              <a:rPr lang="en-US" sz="2500" b="1" dirty="0"/>
              <a:t>WE NEED TO STUDY THE FOLLOWING FEATURES:</a:t>
            </a: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55174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E415EFC-9CBA-772B-23EF-A9CF8E874C20}"/>
              </a:ext>
            </a:extLst>
          </p:cNvPr>
          <p:cNvSpPr/>
          <p:nvPr/>
        </p:nvSpPr>
        <p:spPr>
          <a:xfrm>
            <a:off x="6207503" y="1735565"/>
            <a:ext cx="6065520" cy="2581154"/>
          </a:xfrm>
          <a:prstGeom prst="homePlate">
            <a:avLst/>
          </a:prstGeom>
          <a:blipFill>
            <a:blip r:embed="rId3">
              <a:alphaModFix amt="72000"/>
            </a:blip>
            <a:tile tx="0" ty="0" sx="100000" sy="100000" flip="none" algn="tl"/>
          </a:blip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21153" cy="2716077"/>
          </a:xfrm>
        </p:spPr>
        <p:txBody>
          <a:bodyPr>
            <a:norm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Analysis 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and Observations</a:t>
            </a:r>
            <a:endParaRPr lang="en-US" dirty="0"/>
          </a:p>
        </p:txBody>
      </p:sp>
      <p:sp>
        <p:nvSpPr>
          <p:cNvPr id="10" name="Flowchart: Stored Data 9">
            <a:extLst>
              <a:ext uri="{FF2B5EF4-FFF2-40B4-BE49-F238E27FC236}">
                <a16:creationId xmlns:a16="http://schemas.microsoft.com/office/drawing/2014/main" id="{EA1EFAC3-CD3D-4EF8-63CD-D09929B548BA}"/>
              </a:ext>
            </a:extLst>
          </p:cNvPr>
          <p:cNvSpPr/>
          <p:nvPr/>
        </p:nvSpPr>
        <p:spPr>
          <a:xfrm>
            <a:off x="-818330" y="0"/>
            <a:ext cx="7025833" cy="6858000"/>
          </a:xfrm>
          <a:prstGeom prst="flowChartOnlineStorage">
            <a:avLst/>
          </a:prstGeom>
          <a:blipFill>
            <a:blip r:embed="rId4">
              <a:alphaModFix amt="72000"/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4" y="92598"/>
            <a:ext cx="5878448" cy="1149774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Dataset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E61AD2-2DB6-7EC5-B403-445C57BDDBA0}"/>
              </a:ext>
            </a:extLst>
          </p:cNvPr>
          <p:cNvSpPr txBox="1"/>
          <p:nvPr/>
        </p:nvSpPr>
        <p:spPr>
          <a:xfrm>
            <a:off x="403870" y="1600679"/>
            <a:ext cx="9802015" cy="3656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</a:rPr>
              <a:t>Each record represents a single track and includes: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Track Information:</a:t>
            </a:r>
            <a:r>
              <a:rPr lang="en-US" sz="2000" dirty="0"/>
              <a:t> Includes the track name, artist, album, release year, language, and track URL.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Popularity Score:</a:t>
            </a:r>
            <a:r>
              <a:rPr lang="en-US" sz="2000" dirty="0"/>
              <a:t> A numerical value representing how well the song is performing.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Audio Features:</a:t>
            </a:r>
            <a:r>
              <a:rPr lang="en-US" sz="2000" dirty="0"/>
              <a:t> Captures characteristics such as danceability, energy, valence, </a:t>
            </a:r>
            <a:r>
              <a:rPr lang="en-US" sz="2000" dirty="0" err="1"/>
              <a:t>acousticness</a:t>
            </a:r>
            <a:r>
              <a:rPr lang="en-US" sz="2000" dirty="0"/>
              <a:t>, </a:t>
            </a:r>
            <a:r>
              <a:rPr lang="en-US" sz="2000" dirty="0" err="1"/>
              <a:t>instrumentalness</a:t>
            </a:r>
            <a:r>
              <a:rPr lang="en-US" sz="2000" dirty="0"/>
              <a:t>, </a:t>
            </a:r>
            <a:r>
              <a:rPr lang="en-US" sz="2000" dirty="0" err="1"/>
              <a:t>speechiness</a:t>
            </a:r>
            <a:r>
              <a:rPr lang="en-US" sz="2000" dirty="0"/>
              <a:t>, tempo, loudness, liveness, and more.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Musical Properties:</a:t>
            </a:r>
            <a:r>
              <a:rPr lang="en-US" sz="2000" dirty="0"/>
              <a:t> Details the key, mode, and time signature of the track.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46A2E-5E22-A2D7-9E65-37600AAC79DF}"/>
              </a:ext>
            </a:extLst>
          </p:cNvPr>
          <p:cNvSpPr txBox="1"/>
          <p:nvPr/>
        </p:nvSpPr>
        <p:spPr>
          <a:xfrm>
            <a:off x="570271" y="1242372"/>
            <a:ext cx="6341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Total Records: 62317 (With 22 attributes)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9E87-582A-4D4C-49A1-00627092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EF914-6FA4-3156-2897-8EE84B4133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0020" y="1510013"/>
            <a:ext cx="7645284" cy="4447574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Arial Black" panose="020B0A04020102020204" pitchFamily="34" charset="0"/>
              </a:rPr>
              <a:t>📁 Categorical Columns: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🆔 </a:t>
            </a:r>
            <a:r>
              <a:rPr lang="en-US" b="1" dirty="0" err="1"/>
              <a:t>track_id</a:t>
            </a:r>
            <a:r>
              <a:rPr lang="en-US" dirty="0"/>
              <a:t> – Unique identifier assigned to each Spotify track.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🎵 </a:t>
            </a:r>
            <a:r>
              <a:rPr lang="en-US" b="1" dirty="0" err="1"/>
              <a:t>track_name</a:t>
            </a:r>
            <a:r>
              <a:rPr lang="en-US" dirty="0"/>
              <a:t> – Title or name of the song.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🎤 </a:t>
            </a:r>
            <a:r>
              <a:rPr lang="en-US" b="1" dirty="0" err="1"/>
              <a:t>artist_name</a:t>
            </a:r>
            <a:r>
              <a:rPr lang="en-US" dirty="0"/>
              <a:t> – Name(s) of the performing artist(s).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💿 </a:t>
            </a:r>
            <a:r>
              <a:rPr lang="en-US" b="1" dirty="0" err="1"/>
              <a:t>album_name</a:t>
            </a:r>
            <a:r>
              <a:rPr lang="en-US" dirty="0"/>
              <a:t> – Album in which the track is featured.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🔗 </a:t>
            </a:r>
            <a:r>
              <a:rPr lang="en-US" b="1" dirty="0" err="1"/>
              <a:t>track_url</a:t>
            </a:r>
            <a:r>
              <a:rPr lang="en-US" dirty="0"/>
              <a:t> – Direct Spotify link to play the track.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🖼️ </a:t>
            </a:r>
            <a:r>
              <a:rPr lang="en-US" b="1" dirty="0" err="1"/>
              <a:t>artwork_url</a:t>
            </a:r>
            <a:r>
              <a:rPr lang="en-US" dirty="0"/>
              <a:t> – URL of the album or track cover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📅 </a:t>
            </a:r>
            <a:r>
              <a:rPr lang="en-US" b="1" dirty="0"/>
              <a:t>year</a:t>
            </a:r>
            <a:r>
              <a:rPr lang="en-US" dirty="0"/>
              <a:t> – Release year of the track.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🌐 </a:t>
            </a:r>
            <a:r>
              <a:rPr lang="en-US" b="1" dirty="0"/>
              <a:t>language</a:t>
            </a:r>
            <a:r>
              <a:rPr lang="en-US" dirty="0"/>
              <a:t> – Primary language of the song's lyrics.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5AC6A-DB10-3E15-FFB7-021083096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24EE3-8133-C405-9774-7D21D5B622F4}"/>
              </a:ext>
            </a:extLst>
          </p:cNvPr>
          <p:cNvSpPr txBox="1"/>
          <p:nvPr/>
        </p:nvSpPr>
        <p:spPr>
          <a:xfrm>
            <a:off x="250020" y="463638"/>
            <a:ext cx="86088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BASIC UNDERSTANDING OF THE DATASET:</a:t>
            </a:r>
            <a:endParaRPr lang="en-IN" sz="2800" b="1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6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214224"/>
            <a:ext cx="7964130" cy="108154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🎚️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Audio &amp; Numeric Features</a:t>
            </a:r>
            <a:br>
              <a:rPr lang="en-US" sz="3600" b="1" dirty="0"/>
            </a:b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754" y="6394361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344A6-321F-2FD1-1DFE-816313202EA6}"/>
              </a:ext>
            </a:extLst>
          </p:cNvPr>
          <p:cNvSpPr txBox="1"/>
          <p:nvPr/>
        </p:nvSpPr>
        <p:spPr>
          <a:xfrm>
            <a:off x="530940" y="1069826"/>
            <a:ext cx="1000923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popularity</a:t>
            </a:r>
            <a:r>
              <a:rPr lang="en-US" sz="2000" dirty="0"/>
              <a:t> – Integer score (0–100) indicating listener engagement and streaming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danceability</a:t>
            </a:r>
            <a:r>
              <a:rPr lang="en-US" sz="2000" dirty="0"/>
              <a:t> – Measures how suitable a track is for dancing (0–1) based on rhythm, tempo, and beat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energy</a:t>
            </a:r>
            <a:r>
              <a:rPr lang="en-US" sz="2000" dirty="0"/>
              <a:t> – Overall intensity and activity level of the track (0–1).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acousticness</a:t>
            </a:r>
            <a:r>
              <a:rPr lang="en-US" sz="2000" dirty="0"/>
              <a:t> – Probability that a track is acoustic rather than electronically produced (0–1).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instrumentalness</a:t>
            </a:r>
            <a:r>
              <a:rPr lang="en-US" sz="2000" dirty="0"/>
              <a:t> – Likelihood that a track contains no vocals (0–1).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loudness</a:t>
            </a:r>
            <a:r>
              <a:rPr lang="en-US" sz="2000" dirty="0"/>
              <a:t> – Average loudness in decibels (dB), typically ranging from –60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speechiness</a:t>
            </a:r>
            <a:r>
              <a:rPr lang="en-US" sz="2000" dirty="0"/>
              <a:t> – Indicates the presence of spoken words in the track.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liveness</a:t>
            </a:r>
            <a:r>
              <a:rPr lang="en-US" sz="2000" dirty="0"/>
              <a:t> – Detects audience presence or live recording characteristics (0–1).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valence</a:t>
            </a:r>
            <a:r>
              <a:rPr lang="en-US" sz="2000" dirty="0"/>
              <a:t> – Represents musical positivity or mood (0–1).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tempo</a:t>
            </a:r>
            <a:r>
              <a:rPr lang="en-US" sz="2000" dirty="0"/>
              <a:t> – Speed of the song measured in beats per minute (BPM).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duration_ms</a:t>
            </a:r>
            <a:r>
              <a:rPr lang="en-US" sz="2000" dirty="0"/>
              <a:t> – Total length of the track in milliseconds.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</a:t>
            </a:r>
            <a:r>
              <a:rPr lang="en-US" sz="2000" dirty="0"/>
              <a:t> – The musical key of the track (0–11).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mode</a:t>
            </a:r>
            <a:r>
              <a:rPr lang="en-US" sz="2000" dirty="0"/>
              <a:t> – Musical mode: 1 = Major, 0 = Minor.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time_signature</a:t>
            </a:r>
            <a:r>
              <a:rPr lang="en-US" sz="2000" dirty="0"/>
              <a:t> – Estimated number of beats per bar.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3835-601E-9737-1650-F7CCB3DF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89541-2310-F1A7-A4E5-3FC1DB20F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6077" y="6561786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C626-185D-4A55-C901-C1649A5078E0}"/>
              </a:ext>
            </a:extLst>
          </p:cNvPr>
          <p:cNvSpPr txBox="1"/>
          <p:nvPr/>
        </p:nvSpPr>
        <p:spPr>
          <a:xfrm>
            <a:off x="264242" y="-500076"/>
            <a:ext cx="10058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endParaRPr lang="en-IN" sz="2000" dirty="0"/>
          </a:p>
          <a:p>
            <a:r>
              <a:rPr lang="en-IN" sz="32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DEEPER LOOK AT THE DATSET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n-IN" sz="2000" dirty="0"/>
              <a:t>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0EE0808-9046-710E-1742-3CBE27C958D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87386" y="664470"/>
            <a:ext cx="38512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Columns and their datatypes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F1F-03E9-3684-9927-1026844C2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58" y="2261711"/>
            <a:ext cx="3057952" cy="485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2C799F-EE69-0657-6C28-4BEBAA6C6E88}"/>
              </a:ext>
            </a:extLst>
          </p:cNvPr>
          <p:cNvSpPr txBox="1"/>
          <p:nvPr/>
        </p:nvSpPr>
        <p:spPr>
          <a:xfrm>
            <a:off x="488458" y="1604852"/>
            <a:ext cx="4002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Initial Dataset Shape</a:t>
            </a:r>
            <a:endParaRPr lang="en-IN" sz="2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A8F58-EA1D-FF91-6E24-ED1A708EE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120" y="2191581"/>
            <a:ext cx="2924583" cy="695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AD2696-2FCF-F198-EC8C-057846F43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" y="4822261"/>
            <a:ext cx="12192000" cy="1739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9B2132-8C51-CAE2-68FF-0FB7F765D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953" y="1054773"/>
            <a:ext cx="2424316" cy="3477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DE0079-803B-AE59-26FE-79204802E030}"/>
              </a:ext>
            </a:extLst>
          </p:cNvPr>
          <p:cNvSpPr txBox="1"/>
          <p:nvPr/>
        </p:nvSpPr>
        <p:spPr>
          <a:xfrm>
            <a:off x="8822250" y="1635629"/>
            <a:ext cx="3146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Removing the Duplicates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453E47-F77C-91AB-F48A-606525F02D38}"/>
              </a:ext>
            </a:extLst>
          </p:cNvPr>
          <p:cNvSpPr txBox="1"/>
          <p:nvPr/>
        </p:nvSpPr>
        <p:spPr>
          <a:xfrm>
            <a:off x="264242" y="4070555"/>
            <a:ext cx="3354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First 5 Rows of the Dataset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5416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FFFF-B40F-B646-1248-4E2527EF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3740-C77B-7F62-53A8-97DFD52F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214224"/>
            <a:ext cx="7964130" cy="108154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Univariate analysis</a:t>
            </a:r>
            <a:br>
              <a:rPr lang="en-US" sz="3600" b="1" dirty="0"/>
            </a:b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3C2CA-9CD6-A53D-7DD0-30BC1CB89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754" y="6394361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C5560-9004-B296-B0F7-37A3B83C9F37}"/>
              </a:ext>
            </a:extLst>
          </p:cNvPr>
          <p:cNvSpPr txBox="1"/>
          <p:nvPr/>
        </p:nvSpPr>
        <p:spPr>
          <a:xfrm>
            <a:off x="471946" y="1011473"/>
            <a:ext cx="1080565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What is Univariate Analysis?</a:t>
            </a:r>
          </a:p>
          <a:p>
            <a:r>
              <a:rPr lang="en-US" sz="1900" dirty="0"/>
              <a:t>Univariate analysis focuses on examining </a:t>
            </a:r>
            <a:r>
              <a:rPr lang="en-US" sz="1900" b="1" dirty="0"/>
              <a:t>one variable at a time</a:t>
            </a:r>
            <a:r>
              <a:rPr lang="en-US" sz="1900" dirty="0"/>
              <a:t>. It helps understand that variable’s </a:t>
            </a:r>
            <a:r>
              <a:rPr lang="en-US" sz="1900" b="1" dirty="0"/>
              <a:t>distribution, range, central tendency, and overall statistical behavior</a:t>
            </a:r>
            <a:r>
              <a:rPr lang="en-US" sz="1900" dirty="0"/>
              <a:t>.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47068-91F3-E379-9ABF-5BAC8F3B3D3D}"/>
              </a:ext>
            </a:extLst>
          </p:cNvPr>
          <p:cNvSpPr txBox="1"/>
          <p:nvPr/>
        </p:nvSpPr>
        <p:spPr>
          <a:xfrm>
            <a:off x="570269" y="2365690"/>
            <a:ext cx="922266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 the upcoming slides, we will: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Study how each variable behaves independently using </a:t>
            </a:r>
            <a:r>
              <a:rPr lang="en-US" sz="2000" b="1" dirty="0"/>
              <a:t>descriptive statistics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Visualize numerical features through </a:t>
            </a:r>
            <a:r>
              <a:rPr lang="en-US" sz="2000" b="1" dirty="0"/>
              <a:t>histograms, boxplots, and distribution plots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Interpret each feature’s spread using metrics like </a:t>
            </a:r>
            <a:r>
              <a:rPr lang="en-US" sz="2000" b="1" dirty="0"/>
              <a:t>mean, median, quartiles, and range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Identify </a:t>
            </a:r>
            <a:r>
              <a:rPr lang="en-US" sz="2000" b="1" dirty="0"/>
              <a:t>skewness</a:t>
            </a:r>
            <a:r>
              <a:rPr lang="en-US" sz="2000" dirty="0"/>
              <a:t>, detect </a:t>
            </a:r>
            <a:r>
              <a:rPr lang="en-US" sz="2000" b="1" dirty="0"/>
              <a:t>outliers</a:t>
            </a:r>
            <a:r>
              <a:rPr lang="en-US" sz="2000" dirty="0"/>
              <a:t>, and observe </a:t>
            </a:r>
            <a:r>
              <a:rPr lang="en-US" sz="2000" b="1" dirty="0"/>
              <a:t>concentration patterns</a:t>
            </a:r>
            <a:r>
              <a:rPr lang="en-US" sz="2000" dirty="0"/>
              <a:t> for each attribute.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4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A14F-5006-8D9B-8308-6CAA644E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003F5-5D8B-6E0D-5309-2A2DC0AF5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E53E3-B6D8-429D-B626-2936DCC0E41B}"/>
              </a:ext>
            </a:extLst>
          </p:cNvPr>
          <p:cNvSpPr txBox="1"/>
          <p:nvPr/>
        </p:nvSpPr>
        <p:spPr>
          <a:xfrm>
            <a:off x="264242" y="-500076"/>
            <a:ext cx="10058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endParaRPr lang="en-IN" sz="2000" dirty="0"/>
          </a:p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STASTICAL DATA</a:t>
            </a:r>
          </a:p>
          <a:p>
            <a:r>
              <a:rPr lang="en-IN" sz="2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A4844-BAFA-1D0C-67B9-88A6CE5E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60" y="1052390"/>
            <a:ext cx="3219899" cy="1886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F6959-013C-EDB7-034F-5D9E5B51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287" y="1015798"/>
            <a:ext cx="3229426" cy="1952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5BF804-01CC-2622-9CE3-7232A9CCA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797" y="1004758"/>
            <a:ext cx="3143689" cy="19338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36E094-FD92-30F2-6D4C-6B8A80116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73" y="3919398"/>
            <a:ext cx="3421071" cy="18862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C86132-4EA3-C705-1A80-C078A30B05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287" y="3878221"/>
            <a:ext cx="3372321" cy="19052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C9EDE7-5F04-9AFF-81CC-B6472B20CB23}"/>
              </a:ext>
            </a:extLst>
          </p:cNvPr>
          <p:cNvSpPr txBox="1"/>
          <p:nvPr/>
        </p:nvSpPr>
        <p:spPr>
          <a:xfrm>
            <a:off x="8367251" y="5460321"/>
            <a:ext cx="3637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understand the dataset more clearly through </a:t>
            </a:r>
            <a:r>
              <a:rPr lang="en-US" b="1" dirty="0"/>
              <a:t>visualization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98BF09-B7A4-3163-2A95-AF2EAC0A6398}"/>
              </a:ext>
            </a:extLst>
          </p:cNvPr>
          <p:cNvCxnSpPr/>
          <p:nvPr/>
        </p:nvCxnSpPr>
        <p:spPr>
          <a:xfrm>
            <a:off x="11316929" y="5919019"/>
            <a:ext cx="28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74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9892-D188-A11D-0269-51138479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37DAA-5BDA-DE85-954D-27A90640B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2EFA8-A76B-C402-4419-05055C517783}"/>
              </a:ext>
            </a:extLst>
          </p:cNvPr>
          <p:cNvSpPr txBox="1"/>
          <p:nvPr/>
        </p:nvSpPr>
        <p:spPr>
          <a:xfrm>
            <a:off x="264242" y="-500076"/>
            <a:ext cx="10058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endParaRPr lang="en-IN" sz="2000" dirty="0"/>
          </a:p>
          <a:p>
            <a:r>
              <a:rPr lang="en-US" sz="3600" dirty="0">
                <a:latin typeface="Arial Black" panose="020B0A04020102020204" pitchFamily="34" charset="0"/>
              </a:rPr>
              <a:t>POPULARITY DISTRIBUTION </a:t>
            </a:r>
          </a:p>
          <a:p>
            <a:r>
              <a:rPr lang="en-IN" sz="20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F0933-510C-3C98-5FD1-F393AB5B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2" y="1131140"/>
            <a:ext cx="7833851" cy="4588592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059BF9BD-0CCC-42B1-0523-C424F90BDA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40792" y="1112180"/>
            <a:ext cx="385120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songs cluster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moderate popularity range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that extremely popular hits are relatively rare.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a small number of songs achieving very high popularity compared to the majority.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KDE curve highlights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 main 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that most tracks receive a similar, average level of listener engagement rather than extreme popularity.</a:t>
            </a:r>
          </a:p>
        </p:txBody>
      </p:sp>
    </p:spTree>
    <p:extLst>
      <p:ext uri="{BB962C8B-B14F-4D97-AF65-F5344CB8AC3E}">
        <p14:creationId xmlns:p14="http://schemas.microsoft.com/office/powerpoint/2010/main" val="1214029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97F7-22CF-420C-249C-B0F8DBA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E56F-5B59-133C-D77F-5AF16C61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-221737"/>
            <a:ext cx="10363202" cy="123753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Danceability distribution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A8A6C-0A39-58D9-D8E2-68C364082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409A4A-C263-8E4F-6B83-09A8EED2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1" y="1180731"/>
            <a:ext cx="7955064" cy="43821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B1D9D8-1948-FCF5-9E6E-41048E249337}"/>
              </a:ext>
            </a:extLst>
          </p:cNvPr>
          <p:cNvSpPr txBox="1"/>
          <p:nvPr/>
        </p:nvSpPr>
        <p:spPr>
          <a:xfrm>
            <a:off x="8499664" y="1773478"/>
            <a:ext cx="33777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danceability distribution shows that most tracks in the dataset have </a:t>
            </a:r>
            <a:r>
              <a:rPr lang="en-US" b="1" dirty="0"/>
              <a:t>moderate danceability</a:t>
            </a:r>
            <a:r>
              <a:rPr lang="en-US" dirty="0"/>
              <a:t>, clustering around 0.5–0.7. Extremely low or high danceable songs are rare, indicating the dataset is dominated by mainstream tracks with balanced rhythm and energy.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822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F615-9299-106B-70D0-6CFEC866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EF3C-63D4-1ECB-E2DB-3C0803D4F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190166"/>
            <a:ext cx="6882391" cy="1149774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E</a:t>
            </a:r>
            <a:r>
              <a:rPr lang="en-IN" dirty="0" err="1">
                <a:latin typeface="Arial Black" panose="020B0A04020102020204" pitchFamily="34" charset="0"/>
              </a:rPr>
              <a:t>nergy</a:t>
            </a:r>
            <a:r>
              <a:rPr lang="en-IN" dirty="0">
                <a:latin typeface="Arial Black" panose="020B0A04020102020204" pitchFamily="34" charset="0"/>
              </a:rPr>
              <a:t> distribution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C0325-5FF2-BF34-CE19-3121A8FD1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3C5BB-8447-9BD7-44E9-E8F50DD36FE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138651" y="1577762"/>
            <a:ext cx="381737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songs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moderate to high energy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(typically around 0.5–0.8), suggesting the dataset includes a majority of upbeat or lively tracks.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low-energy songs (calm or soft tracks)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less common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fewer slow ballads or acoustic tracks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distribution may show a slight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right skew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a small portion of songs are extremely energetic, possibly representing dance, electronic, or pop hits.</a:t>
            </a:r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7E7E06EC-3362-30C0-FD4D-6FC418733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1636154"/>
            <a:ext cx="74676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42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2EF5-8FD2-8D36-6307-E2ED8A1F7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9EDF-E163-ED5C-6A38-8228FBB8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-221737"/>
            <a:ext cx="10363202" cy="123753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37E19-E5AB-6845-EDD6-EA88546F5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0D1690-774A-0D7F-A7C2-A29C77373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0" y="1333500"/>
            <a:ext cx="7779400" cy="425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2C2A52D-8A98-4609-0827-A39AD1F5F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33" y="1889451"/>
            <a:ext cx="364459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observe that most songs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valence values between 0 and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few tracks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valence scores close to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pattern suggests that listeners generally prefer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happier, positive-mood songs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sad or low-valence ones.</a:t>
            </a:r>
          </a:p>
        </p:txBody>
      </p:sp>
    </p:spTree>
    <p:extLst>
      <p:ext uri="{BB962C8B-B14F-4D97-AF65-F5344CB8AC3E}">
        <p14:creationId xmlns:p14="http://schemas.microsoft.com/office/powerpoint/2010/main" val="2287026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315791"/>
            <a:ext cx="10863415" cy="591910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Tempo Distribution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160FC3-BCA0-7278-E43C-A016BBAC7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47" y="1472885"/>
            <a:ext cx="5978472" cy="394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DC3A19C3-C4CE-0C04-039B-187AC6169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454" y="2014936"/>
            <a:ext cx="41295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songs cluster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~100–130 BPM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tempo range is naturally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engaging and comfortable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human perception.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aligns well with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structure of pop music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often falls within this BPM range.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2131-4400-2DBC-6172-BA426E0F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D836-7021-1822-6737-2EB2E4079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-221737"/>
            <a:ext cx="10363202" cy="123753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Univariate Analysis for Categorical Data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BD411-BD1C-1715-942A-3EEDDB716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28FDFC-8765-A717-7BFF-A83FD38B5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55" y="1677643"/>
            <a:ext cx="3466790" cy="359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7CA604D-8421-34AA-452C-CCFBFC0A2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422" y="1677643"/>
            <a:ext cx="5167927" cy="348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380F4F-73C2-2BA8-E9E8-F858D6CDDCAC}"/>
              </a:ext>
            </a:extLst>
          </p:cNvPr>
          <p:cNvSpPr txBox="1"/>
          <p:nvPr/>
        </p:nvSpPr>
        <p:spPr>
          <a:xfrm>
            <a:off x="692255" y="4954698"/>
            <a:ext cx="395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suggests that most songs in the dataset are targeted toward a broad mainstream audience of a particular language.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9AD41-647F-1281-13C7-4F94330AAFC2}"/>
              </a:ext>
            </a:extLst>
          </p:cNvPr>
          <p:cNvSpPr txBox="1"/>
          <p:nvPr/>
        </p:nvSpPr>
        <p:spPr>
          <a:xfrm>
            <a:off x="5948516" y="4954697"/>
            <a:ext cx="4316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indicates that the observed popularity and audio features are influenced more by modern music styles rather than older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447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B51F-EEC9-6852-5579-4FCBB2B6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93A7-282C-0265-4A3C-63C071DA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4" y="92598"/>
            <a:ext cx="8366009" cy="1149774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Key insights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788AA-BB9C-A0B6-085D-F4C4EF9CA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87A6C9-F251-77D8-261C-7D688C189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462" y="1183330"/>
            <a:ext cx="11722644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heavily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right-skewed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only a small percentage of tracks achieve very high listener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Danceability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moderately high for most tracks, indicating that Spotify songs generally have a rhythmic and movement-friendly feel.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levels are high in the majority of tracks, showing a preference for powerful, intense, and lively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Valence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(emotional positivity) mostly lies between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and 1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listeners tend to prefer happier-sounding music over sad 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clusters around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~100–130 BPM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aligns with the rhythm range naturally preferred by humans and commonly found in pop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distribution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dominance of one primary language, with others forming smaller segments—indicating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uneven linguistic representation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Year-wise distribution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most tracks belong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eras (2010–2020)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the dataset is biased toward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streaming-era music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older tracks.</a:t>
            </a:r>
          </a:p>
        </p:txBody>
      </p:sp>
    </p:spTree>
    <p:extLst>
      <p:ext uri="{BB962C8B-B14F-4D97-AF65-F5344CB8AC3E}">
        <p14:creationId xmlns:p14="http://schemas.microsoft.com/office/powerpoint/2010/main" val="257355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E3E1-D4DC-2D1A-DC23-42B68E36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6E4D-B04C-66AA-424B-9935BF41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214224"/>
            <a:ext cx="7964130" cy="108154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bivariate analysis</a:t>
            </a:r>
            <a:br>
              <a:rPr lang="en-US" sz="3600" b="1" dirty="0"/>
            </a:b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7FEBD-A7A2-1858-6F6F-2BC92AEA3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754" y="6394361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EC3F4-4673-784A-CD3C-6D5C869A1A62}"/>
              </a:ext>
            </a:extLst>
          </p:cNvPr>
          <p:cNvSpPr txBox="1"/>
          <p:nvPr/>
        </p:nvSpPr>
        <p:spPr>
          <a:xfrm>
            <a:off x="471946" y="1011473"/>
            <a:ext cx="1080565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What is Bivariate Analysis?</a:t>
            </a:r>
          </a:p>
          <a:p>
            <a:r>
              <a:rPr lang="en-US" sz="2000" dirty="0"/>
              <a:t>Bivariate analysis focuses on studying </a:t>
            </a:r>
            <a:r>
              <a:rPr lang="en-US" sz="2000" b="1" dirty="0"/>
              <a:t>two variables together</a:t>
            </a:r>
            <a:r>
              <a:rPr lang="en-US" sz="2000" dirty="0"/>
              <a:t> to identify how they relate and influence each 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8C9D0-39C9-A1EA-03D3-2E219FEFF771}"/>
              </a:ext>
            </a:extLst>
          </p:cNvPr>
          <p:cNvSpPr txBox="1"/>
          <p:nvPr/>
        </p:nvSpPr>
        <p:spPr>
          <a:xfrm>
            <a:off x="570269" y="2365690"/>
            <a:ext cx="92226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 the upcoming slides, we will 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Explore how different musical features relate when compared in pairs.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Use </a:t>
            </a:r>
            <a:r>
              <a:rPr lang="en-US" sz="2000" b="1" dirty="0"/>
              <a:t>scatter plots</a:t>
            </a:r>
            <a:r>
              <a:rPr lang="en-US" sz="2000" dirty="0"/>
              <a:t> to identify trends, patterns, and directional relationships.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Apply </a:t>
            </a:r>
            <a:r>
              <a:rPr lang="en-US" sz="2000" b="1" dirty="0"/>
              <a:t>boxplots</a:t>
            </a:r>
            <a:r>
              <a:rPr lang="en-US" sz="2000" dirty="0"/>
              <a:t> and grouped visual comparisons to analyze category-wise differences.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Examine how features such as </a:t>
            </a:r>
            <a:r>
              <a:rPr lang="en-US" sz="2000" b="1" dirty="0"/>
              <a:t>tempo, danceability, duration</a:t>
            </a:r>
            <a:r>
              <a:rPr lang="en-US" sz="2000" dirty="0"/>
              <a:t>, etc., connect with </a:t>
            </a:r>
            <a:r>
              <a:rPr lang="en-US" sz="2000" b="1" dirty="0"/>
              <a:t>popularity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Understand how combining two variables uncovers deeper insights than analyzing them individually.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119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9CD8-5862-850A-7A26-98F65948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B24F-79AA-3CC2-80DB-856DBF4E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453530"/>
            <a:ext cx="10863415" cy="59191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Energy (by language)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BEB98-9331-2E2E-9DB7-8E7C81748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F895E37-5018-34DC-36C3-92C9EA3BF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78" y="1045440"/>
            <a:ext cx="6981915" cy="520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7E5C642-8407-5CAE-14F5-5F168E884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929" y="1045440"/>
            <a:ext cx="413099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Moderate positive trend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Songs with higher energy tend to have slightly higher popularity across most languages, though the trend is not very strong.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Language-specific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Some languages (e.g., English or Spanish) dominate the higher popularity and higher energy region, suggesting hits are more frequent in these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Diverse spread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Popularity varies widely at all energy levels, indicating that energy alone does not determine a song’s success, and language may play a role in audience reach.</a:t>
            </a:r>
          </a:p>
        </p:txBody>
      </p:sp>
    </p:spTree>
    <p:extLst>
      <p:ext uri="{BB962C8B-B14F-4D97-AF65-F5344CB8AC3E}">
        <p14:creationId xmlns:p14="http://schemas.microsoft.com/office/powerpoint/2010/main" val="1252382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2C2C-0A23-A8B3-E145-539A9C0B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70D4-FB65-33BF-08B9-7DFD338E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4" y="92598"/>
            <a:ext cx="8366009" cy="1149774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Danceability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F9A04-56E8-A652-14AD-1A1F0908B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5177BE8-C691-D4D0-2CB4-818FB32163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40099" y="1242372"/>
            <a:ext cx="432743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Slight positive trend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LOWESS curve suggests that songs with higher danceability tend to be somewhat more popular, but the relationship is not very strong.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Wide spread of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Many moderately danceable songs have both low and high popularity, indicating danceability alone does not guarantee a hit.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few extremely popular songs exist across different danceability levels, showing that other factors (like artist, genre, or marketing) also influence popularity.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639D1C62-C060-2DCD-9B5D-742B36FE3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4" y="1347797"/>
            <a:ext cx="6406204" cy="478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932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5623-E460-68D1-DC6C-A17208FF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8937-AE7A-A28D-425A-C31F6D7C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453530"/>
            <a:ext cx="10863415" cy="591910"/>
          </a:xfrm>
        </p:spPr>
        <p:txBody>
          <a:bodyPr>
            <a:noAutofit/>
          </a:bodyPr>
          <a:lstStyle/>
          <a:p>
            <a:r>
              <a:rPr lang="en-US" sz="34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tempo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9DFD7-E85E-3A35-4547-7C3964602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21AF915-BB2E-09A4-16C6-11C48FD7D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77" y="1221734"/>
            <a:ext cx="6754761" cy="463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F4B754A-ED97-477D-D8AC-01E8B0D12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3268" y="1582342"/>
            <a:ext cx="44857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 tracks appear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tempo ranges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showing that tempo alone does not determine a song’s success.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However,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medium-fast BPM ranges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(roughly 100–130 BPM)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wider popularity variation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they are more adaptable to mainstream genres.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slow or very fast tempos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less spread in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they are less commonly used in hit songs.</a:t>
            </a:r>
          </a:p>
        </p:txBody>
      </p:sp>
    </p:spTree>
    <p:extLst>
      <p:ext uri="{BB962C8B-B14F-4D97-AF65-F5344CB8AC3E}">
        <p14:creationId xmlns:p14="http://schemas.microsoft.com/office/powerpoint/2010/main" val="1778696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F53C-C137-1CA1-C4BE-2167852B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7FCD-C176-7762-546F-F973384E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-221737"/>
            <a:ext cx="10363202" cy="123753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duration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18CDF-B16B-C5F7-86DD-1BC334395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6AB912AA-5D9D-091C-AD42-919D5F9D9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42" y="1413319"/>
            <a:ext cx="5680658" cy="4278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555E5216-A373-4376-355E-423B1F127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090" y="2121205"/>
            <a:ext cx="38837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Songs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2–8 min range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especially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3–4 mins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 higher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Shorter tracks get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replays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boosting visibility.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 length makes them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playlist-friendly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supported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streaming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247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71C5-7364-EEBD-B0CA-9D27A6DC8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EBAE-001A-7AEB-0595-4BD1B2EE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25" y="-139938"/>
            <a:ext cx="8366009" cy="1149774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Danceability vs energy</a:t>
            </a:r>
            <a:endParaRPr lang="en-US" sz="36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03A27-E63E-ED35-D1C9-49532EF7A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98B5F19-7472-821E-36EF-6681584B7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13" y="1610925"/>
            <a:ext cx="6809913" cy="448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94111C-3EE4-1F8D-7BDE-27D5CF8E6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98" y="1975096"/>
            <a:ext cx="372642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clear upward trend shows that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and danceability rise together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High-energy tracks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usually have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stronger rhythm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making them more dance-friendly.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Low-energy songs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tend to have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danceability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reflecting calmer, less rhythm-focused music.</a:t>
            </a:r>
          </a:p>
        </p:txBody>
      </p:sp>
    </p:spTree>
    <p:extLst>
      <p:ext uri="{BB962C8B-B14F-4D97-AF65-F5344CB8AC3E}">
        <p14:creationId xmlns:p14="http://schemas.microsoft.com/office/powerpoint/2010/main" val="2074438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9AA1-7A78-529B-BB2D-DCE91978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618A-84A2-2B49-B7DE-CF498090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5" y="92598"/>
            <a:ext cx="9899840" cy="114977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Top artists by avg popularity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E81FE-C6ED-BC69-A956-8A4E997F1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5767E5-4B29-AB1B-1921-DD63F97B364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92082" y="1242372"/>
            <a:ext cx="397969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artists dominate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few artists consistently achieve higher average popularity across their tracks, highlighting their strong fanbase or mainstream appeal.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count filter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Only artists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 or more tracks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considered, ensuring the ranking reflects consistent performance rather than a single hit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Popularity gap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There may be noticeable differences between the top-ranked artist and others, indicating that certain artists significantly outperform peers in audience reach.</a:t>
            </a: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025554B2-D163-987A-FB1B-6BCD9B00E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95" y="1363018"/>
            <a:ext cx="7863950" cy="484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672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A716-A76F-5712-6D5C-9C7EF617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3C16-B3D3-F9B8-BBBE-258F371B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3" y="298758"/>
            <a:ext cx="10863415" cy="59191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Key insights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5EE7F-5981-D5DF-19F8-2CEC64BBA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B34301-6A54-4F63-621C-893943D3F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18" y="1278347"/>
            <a:ext cx="10016612" cy="430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mild positive trend between popularity and danceability, meaning moderately danceable tracks show a slightly better chance of gaining listeners.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Popularity shows very weak dependence on tempo — hit songs appear across slow, medium, and fast BPM ranges.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popular songs fall within the common duration window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2–4 minutes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extremely short or very long tracks rarely perform as well.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and danceability rise together, showing that songs with stronger rhythmic intensity are usually more movement-friendly and appealing.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small group of artists consistently achieve higher average popularity, suggesting a strong fanbase or widespread mainstream reach. Only artists with 5+ tracks were considered, making the comparison more reliable and reducing the impact of one-hit anomalies.</a:t>
            </a:r>
          </a:p>
        </p:txBody>
      </p:sp>
    </p:spTree>
    <p:extLst>
      <p:ext uri="{BB962C8B-B14F-4D97-AF65-F5344CB8AC3E}">
        <p14:creationId xmlns:p14="http://schemas.microsoft.com/office/powerpoint/2010/main" val="3242274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A3D6-B97F-A1E9-C818-A3F43E58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60BA-5DEB-5966-5305-6A898633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1" y="214224"/>
            <a:ext cx="7964130" cy="108154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multivariate analysis</a:t>
            </a:r>
            <a:br>
              <a:rPr lang="en-US" sz="3600" b="1" dirty="0"/>
            </a:b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2FEE7-DBCA-C80D-155B-CE77CAB56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754" y="6394361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0763C-0373-F3D1-3878-FD23DD06F7FB}"/>
              </a:ext>
            </a:extLst>
          </p:cNvPr>
          <p:cNvSpPr txBox="1"/>
          <p:nvPr/>
        </p:nvSpPr>
        <p:spPr>
          <a:xfrm>
            <a:off x="471946" y="1011473"/>
            <a:ext cx="1080565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What is Multivariate Analysis?</a:t>
            </a:r>
            <a:endParaRPr lang="en-US" dirty="0"/>
          </a:p>
          <a:p>
            <a:r>
              <a:rPr lang="en-US" dirty="0"/>
              <a:t>Multivariate analysis examines relationships among three or more variables simultaneously to understand how multiple features together influence outcomes.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0327-FDF7-8D94-4AF8-14677FD75460}"/>
              </a:ext>
            </a:extLst>
          </p:cNvPr>
          <p:cNvSpPr txBox="1"/>
          <p:nvPr/>
        </p:nvSpPr>
        <p:spPr>
          <a:xfrm>
            <a:off x="717754" y="2174409"/>
            <a:ext cx="92226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 the upcoming slides, we will ➝</a:t>
            </a:r>
          </a:p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08B923-A603-7007-F813-C2AB7F664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78" y="2793607"/>
            <a:ext cx="7270957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explore how multiple audio features relate to one another when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analyzed together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 how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combinations of attributes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collectively influence 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song’s popularity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heatmap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visualize correlations between different musical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examine how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and danceability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jointly interact with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study how key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 characteristics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have evolved over the years through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trend analysis.</a:t>
            </a:r>
          </a:p>
        </p:txBody>
      </p:sp>
    </p:spTree>
    <p:extLst>
      <p:ext uri="{BB962C8B-B14F-4D97-AF65-F5344CB8AC3E}">
        <p14:creationId xmlns:p14="http://schemas.microsoft.com/office/powerpoint/2010/main" val="1552172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762A-EE84-E0BE-FEC2-F2C0518E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F933-1E23-534A-3AF6-01EDA442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453530"/>
            <a:ext cx="10863415" cy="59191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Correlation Heatmap</a:t>
            </a:r>
            <a:b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en-US" sz="36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E424B-187A-8604-6F99-AEDDD9FD0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32155" y="6404470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3386BB-BEA2-CFA4-D9B9-A8DB3D93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7705" y="1263600"/>
            <a:ext cx="441781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English dominance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English tracks often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median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to other languages, reflecting their wider global audience.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Wide variability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Popularity varies significantly within each language, indicating that hits can appear in any language but with different likelihoods.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Some songs achieve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exceptionally high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regardless of language, highlighting that individual hits can transcend general trends.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929F186-C50F-8A1F-1EF7-A7BD4BF7A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5" y="1263601"/>
            <a:ext cx="6170233" cy="514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598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6EE9-EB23-0BD7-EEAC-4D48C074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3B4F-B4EA-C866-CAD9-A0F45031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" y="258381"/>
            <a:ext cx="10602674" cy="114977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 danceability vs energy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9DFEE-A617-D17E-C39D-BF9DA7409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4E5D899-66FB-B176-880E-731A96A4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7" y="1474350"/>
            <a:ext cx="73628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A696E2E-396F-C0BD-38DE-FAE59B84B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7148" y="1689650"/>
            <a:ext cx="40410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Songs with higher danceability often show higher energy, indicating both features rise together.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higher energy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always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translate to higher popularity — both energetic and calm tracks appear across the popularity scale.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 energy is a strong driver of danceability,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not a strong predictor of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8096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05CF-8B41-9D4D-FE35-9BE256D4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9D0B-E340-38C2-AF19-0776A370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453530"/>
            <a:ext cx="10863415" cy="591910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vs Duration vs Tempo</a:t>
            </a:r>
            <a:br>
              <a:rPr lang="en-US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en-US" b="1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8AB00-D328-7B4C-A5EE-04B485205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256F377-F041-0EA5-32EB-0F2CC19B3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78" y="1562035"/>
            <a:ext cx="6644072" cy="4267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BC63E-7E09-7D72-948B-638FB55FD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931" y="1582343"/>
            <a:ext cx="401156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 tracks usually lie within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2–4 minute duration range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is the most listener-friendly length.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Across this range,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tempo varies widely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both slower and faster songs can achieve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indicates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tempo and duration together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shape listener engagement, rather than either feature alone determining popularity.</a:t>
            </a:r>
          </a:p>
        </p:txBody>
      </p:sp>
    </p:spTree>
    <p:extLst>
      <p:ext uri="{BB962C8B-B14F-4D97-AF65-F5344CB8AC3E}">
        <p14:creationId xmlns:p14="http://schemas.microsoft.com/office/powerpoint/2010/main" val="385754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54F6-373D-D8FB-C3B3-83DF0D0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6D38-443D-D3ED-19C1-EFFE8C54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" y="258381"/>
            <a:ext cx="10452338" cy="93965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Tempo vs Danceability vs</a:t>
            </a:r>
            <a:br>
              <a:rPr lang="en-IN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Energy vs Popularity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640A9-6958-06F1-ADA9-CC046DEEA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909" y="6599619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856183B-CE7F-20D4-FA48-C9C0D4AA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71" y="1536257"/>
            <a:ext cx="5897203" cy="470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805E4FBB-B33D-1ADF-172B-1C5A474AC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103" y="1880036"/>
            <a:ext cx="430652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Faster-tempo tracks generally show higher energy, reflecting the natural link between speed and musical intensity.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Songs with higher energy often have higher danceability, reinforcing their strong rhythmic and movement-friendly nature.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Popularity (indicated by color intensity) is distributed across various tempo–energy combinations, meaning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single tempo or energy level guarantees a hit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8153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837D-36DE-6FA2-CD58-33A4190E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"/>
            <a:ext cx="10439401" cy="12794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K</a:t>
            </a:r>
            <a:r>
              <a:rPr lang="en-IN" sz="3600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ey</a:t>
            </a:r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93A11-1345-23AA-0B96-2AA4798CC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C11290-07EF-147A-49A7-F5E7ECF49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94" y="1491731"/>
            <a:ext cx="996980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analysis shows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danceability and energy trend together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popularity has only weak connections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any single feature, indicating 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driven by multiple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Multivariate visualizations reveal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 songs typically fall in balanced musical ranges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rather than at extreme levels of tempo, energy, or danceability.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Valence (emotional tone)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display diverse combinations, showing that hit songs can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upbeat, slow, energetic, or even melancholic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—musical diversity still succeeds.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interaction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tempo, energy, and rhythmic drive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highlights key structural patterns in modern music, yet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 success depends on broader audience preferences and cultural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 popularity is a combined outcome of multiple interacting musical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not a simple linear effect of any one attribute.</a:t>
            </a:r>
          </a:p>
        </p:txBody>
      </p:sp>
    </p:spTree>
    <p:extLst>
      <p:ext uri="{BB962C8B-B14F-4D97-AF65-F5344CB8AC3E}">
        <p14:creationId xmlns:p14="http://schemas.microsoft.com/office/powerpoint/2010/main" val="1534656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1E8F-EC78-8905-8C47-938D5BDE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BD460-2663-7A3B-C93D-31B86A038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8A1B0-5021-D4B1-3FAA-5A568C2D62AF}"/>
              </a:ext>
            </a:extLst>
          </p:cNvPr>
          <p:cNvSpPr txBox="1"/>
          <p:nvPr/>
        </p:nvSpPr>
        <p:spPr>
          <a:xfrm>
            <a:off x="425549" y="97077"/>
            <a:ext cx="55748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TIME SERIES ANALYSIS</a:t>
            </a:r>
            <a:br>
              <a:rPr lang="en-IN" sz="3200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en-US" sz="3200" dirty="0">
                <a:solidFill>
                  <a:schemeClr val="accent4">
                    <a:lumMod val="50000"/>
                  </a:schemeClr>
                </a:solidFill>
              </a:rPr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771CE-E86E-8613-8189-F4470E00A0CC}"/>
              </a:ext>
            </a:extLst>
          </p:cNvPr>
          <p:cNvSpPr txBox="1"/>
          <p:nvPr/>
        </p:nvSpPr>
        <p:spPr>
          <a:xfrm>
            <a:off x="629265" y="796413"/>
            <a:ext cx="368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POPULARITY - TIME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F4D494-0856-74B5-B47A-D568C54C2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49" y="1791339"/>
            <a:ext cx="5988167" cy="427024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A7D5AD0-F3B3-9EE2-B501-B3E47E77C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608" y="1643031"/>
            <a:ext cx="541757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Older songs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average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because they have accumulated streams over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longer time span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Classic or evergreen tracks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retain cultural value and continue to be played across multiple generations.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Newer songs may experience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short-term popularity spikes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they haven’t had enough time to build long-term, sustained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popularity trends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shaped more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long-term listener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than by the release year alone.</a:t>
            </a:r>
          </a:p>
        </p:txBody>
      </p:sp>
    </p:spTree>
    <p:extLst>
      <p:ext uri="{BB962C8B-B14F-4D97-AF65-F5344CB8AC3E}">
        <p14:creationId xmlns:p14="http://schemas.microsoft.com/office/powerpoint/2010/main" val="3589683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AF5D-A5FB-E2C6-9D6D-4185146B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1BF4-2E52-B6D7-4F33-EE49B43E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"/>
            <a:ext cx="10439401" cy="12794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</a:t>
            </a:r>
            <a:r>
              <a:rPr lang="en-IN" sz="3600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uration</a:t>
            </a:r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-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44276-1CF4-4DD6-E678-1EEC2105F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5E6046AC-C685-B8A8-F313-E1E6A9190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44" y="1816225"/>
            <a:ext cx="6407254" cy="432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F17D609-71CA-D63A-429A-79DB31D5B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098" y="1647014"/>
            <a:ext cx="497512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song duration has decreased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a clear shift toward shorter tracks.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Older music often featured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longer compositions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commonly exceeding 4–5 minutes.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Modern songs typically fall within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2–3 minutes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optimized for higher replay value and smoother playlist flow.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trend reflects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shorter attention spans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streaming-friendly music 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where concise tracks perform better.</a:t>
            </a:r>
          </a:p>
        </p:txBody>
      </p:sp>
    </p:spTree>
    <p:extLst>
      <p:ext uri="{BB962C8B-B14F-4D97-AF65-F5344CB8AC3E}">
        <p14:creationId xmlns:p14="http://schemas.microsoft.com/office/powerpoint/2010/main" val="1277381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51C6-405C-F847-EAE9-6395FBF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6393E-5BC1-3BF3-A373-6A0349FA3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A37E6-A79F-2FDD-0459-0E1410F27104}"/>
              </a:ext>
            </a:extLst>
          </p:cNvPr>
          <p:cNvSpPr txBox="1"/>
          <p:nvPr/>
        </p:nvSpPr>
        <p:spPr>
          <a:xfrm>
            <a:off x="425549" y="315532"/>
            <a:ext cx="99179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ACOUSTICNESS - INSTRUMENTALNESS</a:t>
            </a:r>
            <a:br>
              <a:rPr lang="en-IN" sz="3200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en-US" sz="3200" dirty="0">
                <a:solidFill>
                  <a:schemeClr val="accent4">
                    <a:lumMod val="50000"/>
                  </a:schemeClr>
                </a:solidFill>
              </a:rPr>
            </a:br>
            <a:endParaRPr lang="en-IN" sz="32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F3EFE0BC-D773-818B-796B-6AEC5FDA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7" y="1611765"/>
            <a:ext cx="6588891" cy="455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EB8688C-BEE6-BA86-3693-E1946CAB4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126" y="1748723"/>
            <a:ext cx="521822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 the decades, there has been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steady decline in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acousticness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showing that music has gradually moved away from raw, natural-sounding instruments.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Instrumental tracks remain rare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as mainstream music continues to revolve mainly around vocals.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overall trend reflects a clear industry preference for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electronically produced and studio-enhanced sounds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rather than traditional acoustic setups.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Modern listeners also seem to gravitate more toward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vocal-heavy songs with polished, digitally shaped audio styles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981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E0B9B-7AD8-EEC5-83C1-6307F354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C2C1-73BB-DB92-912C-508DBEC0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"/>
            <a:ext cx="10439401" cy="1279488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</a:t>
            </a:r>
            <a:r>
              <a:rPr lang="en-IN" sz="3400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anceability</a:t>
            </a:r>
            <a:r>
              <a:rPr lang="en-IN" sz="34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- energy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E96BC-18F2-E370-5CFB-ABF6F5E4C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B581B33-4067-C813-4611-0A8AB345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0" y="1484671"/>
            <a:ext cx="6194323" cy="431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989E7EC-B06E-ECFD-AC61-DC87AA6A2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581" y="1402601"/>
            <a:ext cx="501412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Popular tracks continue to maintain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energy levels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the years, suggesting a lasting listener preference for lively and dynamic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Danceability has increased in recent decades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highlighting a stronger focus on rhythm-centric and beat-driven production.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rise in danceability aligns with modern trends shaped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clubs, social media platforms like TikTok and reels, and playlist-oriented listening habits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viewed together,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and danceability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 a clear industry shift toward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upbeat, movement-friendly compositions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resonate well with contemporary audiences.</a:t>
            </a:r>
          </a:p>
        </p:txBody>
      </p:sp>
    </p:spTree>
    <p:extLst>
      <p:ext uri="{BB962C8B-B14F-4D97-AF65-F5344CB8AC3E}">
        <p14:creationId xmlns:p14="http://schemas.microsoft.com/office/powerpoint/2010/main" val="156345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D360-DF55-74AA-73AF-09FD5728B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DBD58-75E8-ECC3-8719-4D83CA4D7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F2524-0616-ADAF-BA8A-C561EF46C2F7}"/>
              </a:ext>
            </a:extLst>
          </p:cNvPr>
          <p:cNvSpPr txBox="1"/>
          <p:nvPr/>
        </p:nvSpPr>
        <p:spPr>
          <a:xfrm>
            <a:off x="337059" y="315532"/>
            <a:ext cx="99179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KEY INSIGHTS</a:t>
            </a:r>
            <a:b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</a:br>
            <a:br>
              <a:rPr lang="en-US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</a:b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55F407-83F5-C423-E347-5B92DA48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97" y="1192695"/>
            <a:ext cx="1121860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Older tracks tend to score higher in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because they’ve had many years to gather streams and maintain their cultural presence.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Song lengths have reduced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modern hits becoming shorter to boost replay value and keep listeners engaged quickly.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noticeable drop in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acousticness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instrumentalness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stays low, signaling a strong move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digitally crafted, vocal-driven music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Danceability has risen steadily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reflecting today’s preference for rhythm-heavy tracks that work well for clubs, social media trends, and short-form video content.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has remained consistently high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that audiences continually gravitate toward upbeat, lively, and powerful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long-lasting popularity of older songs highlights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enduring listener loyalty and cultural longevity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strengthened over time through continuous streaming.</a:t>
            </a:r>
          </a:p>
        </p:txBody>
      </p:sp>
    </p:spTree>
    <p:extLst>
      <p:ext uri="{BB962C8B-B14F-4D97-AF65-F5344CB8AC3E}">
        <p14:creationId xmlns:p14="http://schemas.microsoft.com/office/powerpoint/2010/main" val="86342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4BA7-8EE3-6D24-D3FC-0317AEFF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0CDE-9418-1BDF-377E-93A7614D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"/>
            <a:ext cx="10439401" cy="1279488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04F58-48FC-BFC1-2BEC-7A0DEAB3A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51F6F0-014E-CAD6-21CA-E72C5F67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17990"/>
            <a:ext cx="97609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Song popularity isn’t shaped by one feature alone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—it results from the combined influence of energy, danceability, tempo, duration, and other musical elements.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Highly popular songs usually fall within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balanced, mid-range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across several features, suggesting that listeners prefer well-rounded musical profiles.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Valence (emotional mood)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shows only a weak link to popularity, indicating that audiences enjoy both cheerful and emotionally heavy tracks.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Long-term streaming behavior shows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older songs tend to accumulate more popularity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highlighting their lasting cultural presence.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Overall, a song’s success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multi-dimensional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shaped by listener habits, marketing factors, and changing music trends rather than any single musical characteristic.</a:t>
            </a:r>
          </a:p>
        </p:txBody>
      </p:sp>
    </p:spTree>
    <p:extLst>
      <p:ext uri="{BB962C8B-B14F-4D97-AF65-F5344CB8AC3E}">
        <p14:creationId xmlns:p14="http://schemas.microsoft.com/office/powerpoint/2010/main" val="463177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8623-30A1-7579-60FB-11B1D088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D7502-AE32-7F56-89D2-8CCFFA81F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EA4F4-6389-7CFA-2EA4-671FFE6DA35C}"/>
              </a:ext>
            </a:extLst>
          </p:cNvPr>
          <p:cNvSpPr txBox="1"/>
          <p:nvPr/>
        </p:nvSpPr>
        <p:spPr>
          <a:xfrm>
            <a:off x="337059" y="315532"/>
            <a:ext cx="991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FUTURE SCOPE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A6D654-2F39-6113-3B74-C6A360144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97" y="1331194"/>
            <a:ext cx="1121860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Explore genre-specific trends</a:t>
            </a:r>
            <a:r>
              <a:rPr lang="en-US" altLang="en-US" dirty="0"/>
              <a:t> to understand how different styles of music have changed and evolved over time.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Apply lyric-based sentiment analysis</a:t>
            </a:r>
            <a:r>
              <a:rPr lang="en-US" altLang="en-US" dirty="0"/>
              <a:t> to capture emotional depth that valence scores alone cannot represent.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Integrate external indicators</a:t>
            </a:r>
            <a:r>
              <a:rPr lang="en-US" altLang="en-US" dirty="0"/>
              <a:t> such as social media trends, YouTube performance, and radio airplay to gain a wider perspective on popularity.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Implement machine learning models</a:t>
            </a:r>
            <a:r>
              <a:rPr lang="en-US" altLang="en-US" dirty="0"/>
              <a:t> to predict song popularity using a combination of audio features.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Analyze demographic listening patterns</a:t>
            </a:r>
            <a:r>
              <a:rPr lang="en-US" altLang="en-US" dirty="0"/>
              <a:t> across age groups and regions to identify audience-specific preferences.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Expand the study beyond Spotify</a:t>
            </a:r>
            <a:r>
              <a:rPr lang="en-US" altLang="en-US" dirty="0"/>
              <a:t>, comparing popularity patterns across platforms like Apple Music and YouTube Music for broader insights.</a:t>
            </a:r>
          </a:p>
        </p:txBody>
      </p:sp>
    </p:spTree>
    <p:extLst>
      <p:ext uri="{BB962C8B-B14F-4D97-AF65-F5344CB8AC3E}">
        <p14:creationId xmlns:p14="http://schemas.microsoft.com/office/powerpoint/2010/main" val="32504663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15E7-C329-8B9A-A7D8-99351729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91816"/>
            <a:ext cx="10439401" cy="817414"/>
          </a:xfrm>
        </p:spPr>
        <p:txBody>
          <a:bodyPr>
            <a:noAutofit/>
          </a:bodyPr>
          <a:lstStyle/>
          <a:p>
            <a:pPr algn="ctr"/>
            <a:r>
              <a:rPr lang="en-IN" sz="64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THANK YOU!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15388-903E-F90E-BF13-8D46CA33E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05490-A525-A6C6-FC8A-677CE9AD4B68}"/>
              </a:ext>
            </a:extLst>
          </p:cNvPr>
          <p:cNvSpPr txBox="1"/>
          <p:nvPr/>
        </p:nvSpPr>
        <p:spPr>
          <a:xfrm>
            <a:off x="2458065" y="3244334"/>
            <a:ext cx="773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 : MD SAQUIB (GCECTB-R24-2024)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6509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2431</TotalTime>
  <Words>3132</Words>
  <Application>Microsoft Office PowerPoint</Application>
  <PresentationFormat>Widescreen</PresentationFormat>
  <Paragraphs>360</Paragraphs>
  <Slides>40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Black</vt:lpstr>
      <vt:lpstr>Bell MT</vt:lpstr>
      <vt:lpstr>Calibri</vt:lpstr>
      <vt:lpstr>Tenorite</vt:lpstr>
      <vt:lpstr>Wingdings</vt:lpstr>
      <vt:lpstr>Custom</vt:lpstr>
      <vt:lpstr>spotify Data Analysis </vt:lpstr>
      <vt:lpstr>Agenda</vt:lpstr>
      <vt:lpstr>overview</vt:lpstr>
      <vt:lpstr>PowerPoint Presentation</vt:lpstr>
      <vt:lpstr>Analysis  and Observations</vt:lpstr>
      <vt:lpstr>Dataset analysis</vt:lpstr>
      <vt:lpstr>PowerPoint Presentation</vt:lpstr>
      <vt:lpstr>🎚️ Audio &amp; Numeric Features </vt:lpstr>
      <vt:lpstr>PowerPoint Presentation</vt:lpstr>
      <vt:lpstr>Univariate analysis </vt:lpstr>
      <vt:lpstr>PowerPoint Presentation</vt:lpstr>
      <vt:lpstr>PowerPoint Presentation</vt:lpstr>
      <vt:lpstr>Danceability distribution </vt:lpstr>
      <vt:lpstr>Energy distribution</vt:lpstr>
      <vt:lpstr>Valence</vt:lpstr>
      <vt:lpstr>Tempo Distribution</vt:lpstr>
      <vt:lpstr> Univariate Analysis for Categorical Data</vt:lpstr>
      <vt:lpstr>Key insights</vt:lpstr>
      <vt:lpstr>bivariate analysis </vt:lpstr>
      <vt:lpstr>Popularity vs Energy (by language) </vt:lpstr>
      <vt:lpstr>Popularity vs Danceability</vt:lpstr>
      <vt:lpstr>Popularity vs tempo </vt:lpstr>
      <vt:lpstr>Popularity vs duration</vt:lpstr>
      <vt:lpstr>Danceability vs energy</vt:lpstr>
      <vt:lpstr>Top artists by avg popularity </vt:lpstr>
      <vt:lpstr>Key insights</vt:lpstr>
      <vt:lpstr>multivariate analysis </vt:lpstr>
      <vt:lpstr>Correlation Heatmap </vt:lpstr>
      <vt:lpstr>Popularity vs  danceability vs energy </vt:lpstr>
      <vt:lpstr>Popularity vs Duration vs Tempo </vt:lpstr>
      <vt:lpstr>Tempo vs Danceability vs Energy vs Popularity </vt:lpstr>
      <vt:lpstr>Key insights</vt:lpstr>
      <vt:lpstr>PowerPoint Presentation</vt:lpstr>
      <vt:lpstr>Duration - time</vt:lpstr>
      <vt:lpstr>PowerPoint Presentation</vt:lpstr>
      <vt:lpstr>Danceability - energy</vt:lpstr>
      <vt:lpstr>PowerPoint Presentation</vt:lpstr>
      <vt:lpstr>conclusion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 Analysis &amp; Customer Segmentation</dc:title>
  <dc:creator>Tanvir .</dc:creator>
  <cp:lastModifiedBy>Md Saquib</cp:lastModifiedBy>
  <cp:revision>8</cp:revision>
  <dcterms:created xsi:type="dcterms:W3CDTF">2025-09-14T06:50:39Z</dcterms:created>
  <dcterms:modified xsi:type="dcterms:W3CDTF">2025-12-02T20:36:12Z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